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NESCOPE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6473952"/>
            <a:ext cx="11247120" cy="0"/>
          </a:xfrm>
          <a:prstGeom prst="line">
            <a:avLst/>
          </a:prstGeom>
          <a:noFill/>
          <a:ln w="12700">
            <a:solidFill>
              <a:srgbClr val="232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56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CINESCOPE  /  DEVOPS CLASS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80" kern="0" dirty="0">
                <a:solidFill>
                  <a:srgbClr val="656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JENKINS  ·  DOCKER  ·  GITHUB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EA3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EA3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-914400"/>
            <a:ext cx="4754880" cy="4754880"/>
          </a:xfrm>
          <a:prstGeom prst="ellipse">
            <a:avLst/>
          </a:prstGeom>
          <a:solidFill>
            <a:srgbClr val="E50914">
              <a:alpha val="12000"/>
            </a:srgbClr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"/>
            <a:ext cx="3291840" cy="3291840"/>
          </a:xfrm>
          <a:prstGeom prst="ellipse">
            <a:avLst/>
          </a:prstGeom>
          <a:solidFill>
            <a:srgbClr val="F5C518">
              <a:alpha val="8000"/>
            </a:srgbClr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5120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220" kern="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CINESCOPE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1325880"/>
            <a:ext cx="2240280" cy="274320"/>
          </a:xfrm>
          <a:prstGeom prst="roundRect">
            <a:avLst>
              <a:gd name="adj" fmla="val 33333"/>
            </a:avLst>
          </a:prstGeom>
          <a:solidFill>
            <a:srgbClr val="2B171D"/>
          </a:solidFill>
          <a:ln w="12700">
            <a:solidFill>
              <a:srgbClr val="2B171D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335024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FF6B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DEVOPS CLASS PRESENTATION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4708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commit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42032"/>
            <a:ext cx="7315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406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confidence.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4930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Jenkins CI/CD pipeline builds, tests, and deploys the CineScope movie platform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8096" y="4956048"/>
            <a:ext cx="1920240" cy="676656"/>
          </a:xfrm>
          <a:prstGeom prst="roundRect">
            <a:avLst>
              <a:gd name="adj" fmla="val 16216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50749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5074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90" kern="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06624" y="5294376"/>
            <a:ext cx="274320" cy="0"/>
          </a:xfrm>
          <a:prstGeom prst="line">
            <a:avLst/>
          </a:prstGeom>
          <a:noFill/>
          <a:ln w="15240">
            <a:solidFill>
              <a:srgbClr val="2E324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54096" y="4956048"/>
            <a:ext cx="1920240" cy="676656"/>
          </a:xfrm>
          <a:prstGeom prst="roundRect">
            <a:avLst>
              <a:gd name="adj" fmla="val 16216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50749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5074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90" kern="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92624" y="5294376"/>
            <a:ext cx="274320" cy="0"/>
          </a:xfrm>
          <a:prstGeom prst="line">
            <a:avLst/>
          </a:prstGeom>
          <a:noFill/>
          <a:ln w="15240">
            <a:solidFill>
              <a:srgbClr val="2E324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40096" y="4956048"/>
            <a:ext cx="1920240" cy="676656"/>
          </a:xfrm>
          <a:prstGeom prst="roundRect">
            <a:avLst>
              <a:gd name="adj" fmla="val 16216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0" y="50749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A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5074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90" kern="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78624" y="5294376"/>
            <a:ext cx="274320" cy="0"/>
          </a:xfrm>
          <a:prstGeom prst="line">
            <a:avLst/>
          </a:prstGeom>
          <a:noFill/>
          <a:ln w="15240">
            <a:solidFill>
              <a:srgbClr val="2E324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26096" y="4956048"/>
            <a:ext cx="1920240" cy="676656"/>
          </a:xfrm>
          <a:prstGeom prst="roundRect">
            <a:avLst>
              <a:gd name="adj" fmla="val 16216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0" y="50749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D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5074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90" kern="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6053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6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Jenkins  ·  GitHub  ·  Docker Compose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60533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656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47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IDEA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6675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CI/CD: automate the path from change to release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pipeline catches problems early and turns a tested change into a running application.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349240" cy="3063240"/>
          </a:xfrm>
          <a:prstGeom prst="roundRect">
            <a:avLst>
              <a:gd name="adj" fmla="val 3582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93392"/>
            <a:ext cx="2103120" cy="274320"/>
          </a:xfrm>
          <a:prstGeom prst="roundRect">
            <a:avLst>
              <a:gd name="adj" fmla="val 33333"/>
            </a:avLst>
          </a:prstGeom>
          <a:solidFill>
            <a:srgbClr val="2B171D"/>
          </a:solidFill>
          <a:ln w="12700">
            <a:solidFill>
              <a:srgbClr val="2B171D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0253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FF6B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INTEGRATION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48716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+ verify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97180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change is checked against the project before it moves forward.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" y="3790188"/>
            <a:ext cx="77724" cy="77724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8992" y="3703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reproducible dependencies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4183380"/>
            <a:ext cx="77724" cy="77724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4096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backend and frontend tests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" y="4576572"/>
            <a:ext cx="77724" cy="77724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8992" y="4489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a production-ready frontend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6208" y="1737360"/>
            <a:ext cx="5349240" cy="3063240"/>
          </a:xfrm>
          <a:prstGeom prst="roundRect">
            <a:avLst>
              <a:gd name="adj" fmla="val 3582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1993392"/>
            <a:ext cx="2743200" cy="274320"/>
          </a:xfrm>
          <a:prstGeom prst="roundRect">
            <a:avLst>
              <a:gd name="adj" fmla="val 33333"/>
            </a:avLst>
          </a:prstGeom>
          <a:solidFill>
            <a:srgbClr val="292615"/>
          </a:solidFill>
          <a:ln w="12700">
            <a:solidFill>
              <a:srgbClr val="29261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47104" y="200253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DELIVERY / DEPLOYMENT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48716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+ verify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29718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the verified application into the demo environment and check it is responding.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28816" y="3790188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11696" y="3703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container images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28816" y="4183380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11696" y="40965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services with Docker Compose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28816" y="4576572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11696" y="44897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post-deployment HTTP smoke checks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5138928"/>
            <a:ext cx="10991088" cy="713232"/>
          </a:xfrm>
          <a:prstGeom prst="roundRect">
            <a:avLst>
              <a:gd name="adj" fmla="val 15385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534009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CINESCOPE GOAL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331720" y="5276088"/>
            <a:ext cx="8732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failed quality gate stops the normal pipeline before the deployment stage.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EA3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47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SYSTEM MAP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6675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pipeline connects source control to a three-service app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Jenkins runs on a Windows or Linux agent with Git, Node.js/npm, and Docker access.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205740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39572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&amp; push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1874520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36392" y="205740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136392" y="239572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+ Jenkinsfile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18745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50992" y="2057400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JENKINS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50992" y="2395728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agent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337560" cy="1005840"/>
          </a:xfrm>
          <a:prstGeom prst="roundRect">
            <a:avLst>
              <a:gd name="adj" fmla="val 1090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11312" y="205740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6A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HOST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11312" y="2395728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deployment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87752" y="2377440"/>
            <a:ext cx="320040" cy="0"/>
          </a:xfrm>
          <a:prstGeom prst="line">
            <a:avLst/>
          </a:prstGeom>
          <a:noFill/>
          <a:ln w="22860">
            <a:solidFill>
              <a:srgbClr val="2E324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0" y="2377440"/>
            <a:ext cx="384048" cy="0"/>
          </a:xfrm>
          <a:prstGeom prst="line">
            <a:avLst/>
          </a:prstGeom>
          <a:noFill/>
          <a:ln w="22860">
            <a:solidFill>
              <a:srgbClr val="2E324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89520" y="2377440"/>
            <a:ext cx="384048" cy="0"/>
          </a:xfrm>
          <a:prstGeom prst="line">
            <a:avLst/>
          </a:prstGeom>
          <a:noFill/>
          <a:ln w="22860">
            <a:solidFill>
              <a:srgbClr val="2E3247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743200" y="1508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6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 or SCM polling (every 5 min)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710928" y="2907792"/>
            <a:ext cx="0" cy="429768"/>
          </a:xfrm>
          <a:prstGeom prst="line">
            <a:avLst/>
          </a:prstGeom>
          <a:noFill/>
          <a:ln w="19050">
            <a:solidFill>
              <a:srgbClr val="6AA9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69280" y="3337560"/>
            <a:ext cx="5532120" cy="0"/>
          </a:xfrm>
          <a:prstGeom prst="line">
            <a:avLst/>
          </a:prstGeom>
          <a:noFill/>
          <a:ln w="19050">
            <a:solidFill>
              <a:srgbClr val="6AA9F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55080" y="3337560"/>
            <a:ext cx="0" cy="256032"/>
          </a:xfrm>
          <a:prstGeom prst="line">
            <a:avLst/>
          </a:prstGeom>
          <a:noFill/>
          <a:ln w="17780">
            <a:solidFill>
              <a:srgbClr val="6AA9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0" y="3639312"/>
            <a:ext cx="1755648" cy="960120"/>
          </a:xfrm>
          <a:prstGeom prst="roundRect">
            <a:avLst>
              <a:gd name="adj" fmla="val 11429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96128" y="38404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559552" y="41788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27017 · persistent named volume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385048" y="3337560"/>
            <a:ext cx="0" cy="256032"/>
          </a:xfrm>
          <a:prstGeom prst="line">
            <a:avLst/>
          </a:prstGeom>
          <a:noFill/>
          <a:ln w="17780">
            <a:solidFill>
              <a:srgbClr val="6AA9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516368" y="3639312"/>
            <a:ext cx="1755648" cy="960120"/>
          </a:xfrm>
          <a:prstGeom prst="roundRect">
            <a:avLst>
              <a:gd name="adj" fmla="val 11429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26096" y="38404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8D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API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41788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5000 · backend service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415016" y="3337560"/>
            <a:ext cx="0" cy="256032"/>
          </a:xfrm>
          <a:prstGeom prst="line">
            <a:avLst/>
          </a:prstGeom>
          <a:noFill/>
          <a:ln w="17780">
            <a:solidFill>
              <a:srgbClr val="6AA9F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546336" y="3639312"/>
            <a:ext cx="1755648" cy="960120"/>
          </a:xfrm>
          <a:prstGeom prst="roundRect">
            <a:avLst>
              <a:gd name="adj" fmla="val 11429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56064" y="38404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Nginx + React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619488" y="41788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3000 · frontend service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5800" y="5093208"/>
            <a:ext cx="10607040" cy="640080"/>
          </a:xfrm>
          <a:prstGeom prst="roundRect">
            <a:avLst>
              <a:gd name="adj" fmla="val 17143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6112" y="53035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TRAFFIC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377440" y="5230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→ Nginx / React → /api proxy → Express → MongoDB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EA3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47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JENKINS CONFIGURATION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6675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repository change starts a build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Jenkins job loads the pipeline directly from source control.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11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219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Pipeline job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87752"/>
            <a:ext cx="31272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Jenkins, create CineScope-Pipeline and use “Pipeline script from SCM”.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1755648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5424" y="1911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35424" y="22219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repository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2587752"/>
            <a:ext cx="31272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Git, provide the repository URL, choose */main, and set Jenkinsfile as the script path.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83296" y="1755648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1911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D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2219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trigger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2587752"/>
            <a:ext cx="31272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GitHub webhook or the Jenkinsfile Poll SCM fallback: H/5 * * * *.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3931920"/>
            <a:ext cx="5257800" cy="1353312"/>
          </a:xfrm>
          <a:prstGeom prst="roundRect">
            <a:avLst>
              <a:gd name="adj" fmla="val 8108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" y="4133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REQUIREMENTS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6112" y="4585716"/>
            <a:ext cx="77724" cy="77724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78992" y="44988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CLI · Node.js 18+ / npm 9+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" y="4933188"/>
            <a:ext cx="77724" cy="77724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8992" y="4846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CLI + daemon access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3931920"/>
            <a:ext cx="5367528" cy="1353312"/>
          </a:xfrm>
          <a:prstGeom prst="roundRect">
            <a:avLst>
              <a:gd name="adj" fmla="val 8108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4133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GUARDRAILS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19088" y="4585716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01968" y="44988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20-minute timeout · keep latest 15 builds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19088" y="4933188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01968" y="4846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concurrent builds · Windows/Linux shell support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" y="5669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6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On Windows, the Jenkins service account must be able to access Docker Desktop.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EA3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47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PIPELINE AT A GLANCE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6675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Seven execution stages, then post-build reporting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pipeline is sequential: later stages run only if earlier stages complete successfully.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2578608" cy="1078992"/>
          </a:xfrm>
          <a:prstGeom prst="roundRect">
            <a:avLst>
              <a:gd name="adj" fmla="val 1016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" y="19385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92024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source + Jenkinsfile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11296" y="1783080"/>
            <a:ext cx="2578608" cy="1078992"/>
          </a:xfrm>
          <a:prstGeom prst="roundRect">
            <a:avLst>
              <a:gd name="adj" fmla="val 1016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6744" y="19385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69664" y="192024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3408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ci ×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64224" y="1783080"/>
            <a:ext cx="2578608" cy="1078992"/>
          </a:xfrm>
          <a:prstGeom prst="roundRect">
            <a:avLst>
              <a:gd name="adj" fmla="val 1016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9672" y="19385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192024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tests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23408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Vitest + Supertest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217152" y="1783080"/>
            <a:ext cx="2578608" cy="1078992"/>
          </a:xfrm>
          <a:prstGeom prst="roundRect">
            <a:avLst>
              <a:gd name="adj" fmla="val 1016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72600" y="19385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192024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381744" y="23408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Vite build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3200400"/>
            <a:ext cx="2578608" cy="1078992"/>
          </a:xfrm>
          <a:prstGeom prst="roundRect">
            <a:avLst>
              <a:gd name="adj" fmla="val 1016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" y="33558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A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316736" y="333756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build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7581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+ frontend images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11296" y="3200400"/>
            <a:ext cx="2578608" cy="1078992"/>
          </a:xfrm>
          <a:prstGeom prst="roundRect">
            <a:avLst>
              <a:gd name="adj" fmla="val 1016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66744" y="33558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169664" y="333756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675888" y="37581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services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64224" y="3200400"/>
            <a:ext cx="2578608" cy="1078992"/>
          </a:xfrm>
          <a:prstGeom prst="roundRect">
            <a:avLst>
              <a:gd name="adj" fmla="val 1016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19672" y="33558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8D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022592" y="333756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test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28816" y="37581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+ catalog + UI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35440" y="3200400"/>
            <a:ext cx="2304288" cy="1078992"/>
          </a:xfrm>
          <a:prstGeom prst="roundRect">
            <a:avLst>
              <a:gd name="adj" fmla="val 10169"/>
            </a:avLst>
          </a:prstGeom>
          <a:solidFill>
            <a:srgbClr val="211D15"/>
          </a:solidFill>
          <a:ln w="12700">
            <a:solidFill>
              <a:srgbClr val="4940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00032" y="33558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400032" y="367588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+ cleanup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" y="499262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Always: cleanup | success/failure summary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22376" y="540410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Jenkinsfile defines 7 stages and a post { always / success / failure } block. Project docs describe reporting as Stage 8.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EA3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47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CONTINUOUS INTEGRATION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6675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 and build are the quality gates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Clean, repeatable installs and automated checks reduce “works on my machine” surprises.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2395728" cy="2423160"/>
          </a:xfrm>
          <a:prstGeom prst="roundRect">
            <a:avLst>
              <a:gd name="adj" fmla="val 4580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066544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222433"/>
          </a:solidFill>
          <a:ln w="12700">
            <a:solidFill>
              <a:srgbClr val="222433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3544" y="2075688"/>
            <a:ext cx="722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02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560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install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309067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ci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367588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Installs locked dependencies in backend and frontend.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18104" y="3035808"/>
            <a:ext cx="310896" cy="0"/>
          </a:xfrm>
          <a:prstGeom prst="line">
            <a:avLst/>
          </a:prstGeom>
          <a:noFill/>
          <a:ln w="17780">
            <a:solidFill>
              <a:srgbClr val="2E324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93008" y="1874520"/>
            <a:ext cx="2395728" cy="2423160"/>
          </a:xfrm>
          <a:prstGeom prst="roundRect">
            <a:avLst>
              <a:gd name="adj" fmla="val 4580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066544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222433"/>
          </a:solidFill>
          <a:ln w="12700">
            <a:solidFill>
              <a:srgbClr val="222433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30752" y="2075688"/>
            <a:ext cx="722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03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560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tests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09067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test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67588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Vitest + Supertest; project tests use an isolated in-memory MongoDB.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25312" y="3035808"/>
            <a:ext cx="310896" cy="0"/>
          </a:xfrm>
          <a:prstGeom prst="line">
            <a:avLst/>
          </a:prstGeom>
          <a:noFill/>
          <a:ln w="17780">
            <a:solidFill>
              <a:srgbClr val="2E324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00216" y="1874520"/>
            <a:ext cx="2395728" cy="2423160"/>
          </a:xfrm>
          <a:prstGeom prst="roundRect">
            <a:avLst>
              <a:gd name="adj" fmla="val 4580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2066544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222433"/>
          </a:solidFill>
          <a:ln w="12700">
            <a:solidFill>
              <a:srgbClr val="222433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2075688"/>
            <a:ext cx="722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04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2560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validation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309067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test  ·  npm run build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367588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tests run before Vite compiles the production bundle.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732520" y="3035808"/>
            <a:ext cx="310896" cy="0"/>
          </a:xfrm>
          <a:prstGeom prst="line">
            <a:avLst/>
          </a:prstGeom>
          <a:noFill/>
          <a:ln w="17780">
            <a:solidFill>
              <a:srgbClr val="2E324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07424" y="1874520"/>
            <a:ext cx="2395728" cy="2423160"/>
          </a:xfrm>
          <a:prstGeom prst="roundRect">
            <a:avLst>
              <a:gd name="adj" fmla="val 4580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72016" y="2066544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222433"/>
          </a:solidFill>
          <a:ln w="12700">
            <a:solidFill>
              <a:srgbClr val="222433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45168" y="2075688"/>
            <a:ext cx="722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6A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05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9272016" y="2560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build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272016" y="309067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AA9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docker build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272016" y="367588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backend and frontend as production images.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" y="4754880"/>
            <a:ext cx="10808208" cy="768096"/>
          </a:xfrm>
          <a:prstGeom prst="roundRect">
            <a:avLst>
              <a:gd name="adj" fmla="val 14286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6112" y="5001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FAST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920240" y="4910328"/>
            <a:ext cx="9098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test or build error returns a non-zero result: Jenkins marks the run failed and skips downstream stages.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EA3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47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CONTAINERIZE + DEPLOY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6675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packages the app; Compose updates the demo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deployment uses separate frontend, backend, and database services on a shared Compose network.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011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6A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BUILD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4688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image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1635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20 Alpine · npm ci --omit=dev · Express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3255264"/>
            <a:ext cx="4507992" cy="0"/>
          </a:xfrm>
          <a:prstGeom prst="line">
            <a:avLst/>
          </a:prstGeom>
          <a:noFill/>
          <a:ln w="12700">
            <a:solidFill>
              <a:srgbClr val="23263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950976" y="35021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image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84962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build stage → static bundle → Nginx runtime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0120" y="4416552"/>
            <a:ext cx="2633472" cy="274320"/>
          </a:xfrm>
          <a:prstGeom prst="roundRect">
            <a:avLst>
              <a:gd name="adj" fmla="val 33333"/>
            </a:avLst>
          </a:prstGeom>
          <a:solidFill>
            <a:srgbClr val="1A2130"/>
          </a:solidFill>
          <a:ln w="12700">
            <a:solidFill>
              <a:srgbClr val="1A213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33272" y="442569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8DB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NUMBER + SHORT COMMIT SHA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0116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DEPLOYMENT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2450592"/>
            <a:ext cx="4526280" cy="512064"/>
          </a:xfrm>
          <a:prstGeom prst="roundRect">
            <a:avLst>
              <a:gd name="adj" fmla="val 2142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56832" y="25603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2560320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7 · named data volume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3145536"/>
            <a:ext cx="4526280" cy="512064"/>
          </a:xfrm>
          <a:prstGeom prst="roundRect">
            <a:avLst>
              <a:gd name="adj" fmla="val 2142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56832" y="325526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8D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325526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API · port 5000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3840480"/>
            <a:ext cx="4526280" cy="512064"/>
          </a:xfrm>
          <a:prstGeom prst="roundRect">
            <a:avLst>
              <a:gd name="adj" fmla="val 21429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832" y="39502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950208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Nginx / React · port 3000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681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5F6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docker compose up -d --no-deps --build backend frontend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5440680"/>
            <a:ext cx="10808208" cy="521208"/>
          </a:xfrm>
          <a:prstGeom prst="roundRect">
            <a:avLst>
              <a:gd name="adj" fmla="val 21053"/>
            </a:avLst>
          </a:prstGeom>
          <a:solidFill>
            <a:srgbClr val="211D15"/>
          </a:solidFill>
          <a:ln w="12700">
            <a:solidFill>
              <a:srgbClr val="4940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6112" y="560527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SAFETY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057400" y="55595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deployment does not remove the MongoDB volume or existing catalog/reviews.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EA3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47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POST-DEPLOYMENT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6675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Smoke tests ask: “Is the deployed app alive?”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Node.js smoke-test script retries endpoints to allow services time to become ready.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0574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D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4505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health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9260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8D59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/api/health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337560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an HTTP success and health status UP.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62272" y="187452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5152" y="20574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4505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 catalog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9260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/api/movies?limit=5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3337560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success + movies array; exercises database-backed API.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74736" y="187452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20574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4505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9260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4061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http://localhost:3000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3337560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Attempts to confirm the web UI responds.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" y="4434840"/>
            <a:ext cx="6720840" cy="914400"/>
          </a:xfrm>
          <a:prstGeom prst="roundRect">
            <a:avLst>
              <a:gd name="adj" fmla="val 12000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6360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A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POLICY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4581144"/>
            <a:ext cx="4800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checks: up to 12 attempts, 5 seconds apart  ·  Frontend: up to 3 attempts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54112" y="4434840"/>
            <a:ext cx="3666744" cy="914400"/>
          </a:xfrm>
          <a:prstGeom prst="roundRect">
            <a:avLst>
              <a:gd name="adj" fmla="val 12000"/>
            </a:avLst>
          </a:prstGeom>
          <a:solidFill>
            <a:srgbClr val="211D15"/>
          </a:solidFill>
          <a:ln w="12700">
            <a:solidFill>
              <a:srgbClr val="4940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82712" y="462686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982712" y="49011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failure logs a NOTE; it does not fail this script.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EA3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47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FAILURE + RECOVERY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6675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outcomes are visible—and data stays protected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post block runs regardless of success and reports a clear result in the Jenkins console.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5074920" cy="2057400"/>
          </a:xfrm>
          <a:prstGeom prst="roundRect">
            <a:avLst>
              <a:gd name="adj" fmla="val 5333"/>
            </a:avLst>
          </a:prstGeom>
          <a:solidFill>
            <a:srgbClr val="14221D"/>
          </a:solidFill>
          <a:ln w="12700">
            <a:solidFill>
              <a:srgbClr val="2349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57400"/>
            <a:ext cx="932688" cy="274320"/>
          </a:xfrm>
          <a:prstGeom prst="roundRect">
            <a:avLst>
              <a:gd name="adj" fmla="val 33333"/>
            </a:avLst>
          </a:prstGeom>
          <a:solidFill>
            <a:srgbClr val="1C382B"/>
          </a:solidFill>
          <a:ln w="12700">
            <a:solidFill>
              <a:srgbClr val="1C382B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206654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48D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420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verified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24128" y="3177540"/>
            <a:ext cx="77724" cy="77724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07008" y="3090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build number and image tag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24128" y="3534156"/>
            <a:ext cx="77724" cy="77724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07008" y="3447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Prints app URL, API URL, and database 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074920" cy="2057400"/>
          </a:xfrm>
          <a:prstGeom prst="roundRect">
            <a:avLst>
              <a:gd name="adj" fmla="val 5333"/>
            </a:avLst>
          </a:prstGeom>
          <a:solidFill>
            <a:srgbClr val="29191C"/>
          </a:solidFill>
          <a:ln w="12700">
            <a:solidFill>
              <a:srgbClr val="4926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8232" y="2057400"/>
            <a:ext cx="932688" cy="274320"/>
          </a:xfrm>
          <a:prstGeom prst="roundRect">
            <a:avLst>
              <a:gd name="adj" fmla="val 33333"/>
            </a:avLst>
          </a:prstGeom>
          <a:solidFill>
            <a:srgbClr val="451C22"/>
          </a:solidFill>
          <a:ln w="12700">
            <a:solidFill>
              <a:srgbClr val="451C2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1384" y="206654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FF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428232" y="25420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+ investigate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46520" y="3177540"/>
            <a:ext cx="77724" cy="77724"/>
          </a:xfrm>
          <a:prstGeom prst="ellipse">
            <a:avLst/>
          </a:prstGeom>
          <a:solidFill>
            <a:srgbClr val="F40612"/>
          </a:solidFill>
          <a:ln w="12700">
            <a:solidFill>
              <a:srgbClr val="F4061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3090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Console points to the failed stage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534156"/>
            <a:ext cx="77724" cy="77724"/>
          </a:xfrm>
          <a:prstGeom prst="ellipse">
            <a:avLst/>
          </a:prstGeom>
          <a:solidFill>
            <a:srgbClr val="F40612"/>
          </a:solidFill>
          <a:ln w="12700">
            <a:solidFill>
              <a:srgbClr val="F4061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3447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deployment and database volume are not removed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" y="4343400"/>
            <a:ext cx="10497312" cy="914400"/>
          </a:xfrm>
          <a:prstGeom prst="roundRect">
            <a:avLst>
              <a:gd name="adj" fmla="val 12000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552" y="4544568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DATA-PRESERVATION RULE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227832" y="448970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docker compose down -v: the named cinescope-mongo-data volume persists across deployments.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5869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6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Temporary workspace cleanup targets coverage folders and log files; failure artifacts are retained.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EA3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47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CLASS DEMO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6675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way to demonstrate the pipeline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app first, then trace one code change through Jenkins stages and deployment.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" y="1783080"/>
            <a:ext cx="5669280" cy="3611880"/>
          </a:xfrm>
          <a:prstGeom prst="roundRect">
            <a:avLst>
              <a:gd name="adj" fmla="val 3038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20391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SMOKE RUN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87552" y="2615184"/>
            <a:ext cx="292608" cy="29260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647188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5786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run test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7552" y="3227832"/>
            <a:ext cx="292608" cy="29260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3259836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1912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run build:frontend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87552" y="3840480"/>
            <a:ext cx="292608" cy="29260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3872484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38039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docker compose up -d --build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7552" y="4453128"/>
            <a:ext cx="292608" cy="29260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4485132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4165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http://localhost:3000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5029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6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Docker Desktop + local Docker daemon.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56832" y="1783080"/>
            <a:ext cx="4572000" cy="3611880"/>
          </a:xfrm>
          <a:prstGeom prst="roundRect">
            <a:avLst>
              <a:gd name="adj" fmla="val 3038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22008" y="20391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POINT OUT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0296" y="2665476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23176" y="25786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Jenkinsfile is versioned with the 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0296" y="3259836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23176" y="31729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pass before deployment begins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0296" y="3854196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23176" y="376732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Containers isolate runtime dependencies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0296" y="4448556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23176" y="43616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tests validate live endpoints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" y="57150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App: localhost:3000   |   API: localhost:5000   |   DB: localhost:27017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EA3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47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ENGINEERING TAKEAWAYS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6675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works well—and what could evolve next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implementation is a solid educational CI/CD example, with realistic opportunities to improve.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5102352" cy="3611880"/>
          </a:xfrm>
          <a:prstGeom prst="roundRect">
            <a:avLst>
              <a:gd name="adj" fmla="val 3038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039112"/>
            <a:ext cx="1572768" cy="274320"/>
          </a:xfrm>
          <a:prstGeom prst="roundRect">
            <a:avLst>
              <a:gd name="adj" fmla="val 33333"/>
            </a:avLst>
          </a:prstGeom>
          <a:solidFill>
            <a:srgbClr val="1C382B"/>
          </a:solidFill>
          <a:ln w="12700">
            <a:solidFill>
              <a:srgbClr val="1C382B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04825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48D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STRENGTHS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05840" y="2683764"/>
            <a:ext cx="77724" cy="77724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25968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Declarative, source-controlled 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268980"/>
            <a:ext cx="77724" cy="77724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3182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and build are gates before deployment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3854196"/>
            <a:ext cx="77724" cy="77724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767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Cross-platform agent commands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4439412"/>
            <a:ext cx="77724" cy="77724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43525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database volume protects user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5024628"/>
            <a:ext cx="77724" cy="77724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88720" y="4937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Retry-aware smoke test + clear build reporting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9632" y="1810512"/>
            <a:ext cx="5029200" cy="3611880"/>
          </a:xfrm>
          <a:prstGeom prst="roundRect">
            <a:avLst>
              <a:gd name="adj" fmla="val 3038"/>
            </a:avLst>
          </a:prstGeom>
          <a:solidFill>
            <a:srgbClr val="13141D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2039112"/>
            <a:ext cx="1673352" cy="274320"/>
          </a:xfrm>
          <a:prstGeom prst="roundRect">
            <a:avLst>
              <a:gd name="adj" fmla="val 33333"/>
            </a:avLst>
          </a:prstGeom>
          <a:solidFill>
            <a:srgbClr val="292615"/>
          </a:solidFill>
          <a:ln w="12700">
            <a:solidFill>
              <a:srgbClr val="292615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2048256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IMPROVEMENTS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92240" y="2683764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25968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immutable images to a registry, then deploy those exact tags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3360420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32735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frontend smoke-test failure fail the pipeline when desired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4037076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9502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rollback / blue-green strategy and deployment approvals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4713732"/>
            <a:ext cx="77724" cy="777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0" y="462686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production secrets in Jenkins credentials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669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6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detail: Jenkins builds tagged images; Compose also uses build contexts and may rebuild during deployment.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EA3B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658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TAKEAWAY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29844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 the checks.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02996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Package consistently.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7614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 without losing data.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382219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CineScope pipeline: GitHub → Jenkins → Tests → Docker → Compose → Smoke tests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892040"/>
            <a:ext cx="10515600" cy="859536"/>
          </a:xfrm>
          <a:prstGeom prst="roundRect">
            <a:avLst>
              <a:gd name="adj" fmla="val 12766"/>
            </a:avLst>
          </a:prstGeom>
          <a:solidFill>
            <a:srgbClr val="191B26"/>
          </a:solidFill>
          <a:ln w="12700">
            <a:solidFill>
              <a:srgbClr val="2326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51846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spc="130" kern="0" dirty="0">
                <a:solidFill>
                  <a:srgbClr val="F406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5184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9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6217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56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CINESCOPE  /  DEVOPS CLASS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CineScope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CineScope CI/CD Pipeline</dc:title>
  <dc:subject>How the CineScope Jenkins CI/CD pipeline works</dc:subject>
  <dc:creator>CineScope DevOps Project</dc:creator>
  <cp:lastModifiedBy>CineScope DevOps Project</cp:lastModifiedBy>
  <cp:revision>1</cp:revision>
  <dcterms:created xsi:type="dcterms:W3CDTF">2026-10-23T07:57:57Z</dcterms:created>
  <dcterms:modified xsi:type="dcterms:W3CDTF">2026-10-23T07:57:57Z</dcterms:modified>
</cp:coreProperties>
</file>